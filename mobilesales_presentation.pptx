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64" r:id="rId7"/>
    <p:sldId id="259" r:id="rId8"/>
    <p:sldId id="268" r:id="rId9"/>
    <p:sldId id="269" r:id="rId10"/>
    <p:sldId id="270" r:id="rId11"/>
    <p:sldId id="271" r:id="rId12"/>
    <p:sldId id="262" r:id="rId13"/>
    <p:sldId id="267" r:id="rId14"/>
  </p:sldIdLst>
  <p:sldSz cx="18288000" cy="10287000"/>
  <p:notesSz cx="6858000" cy="9144000"/>
  <p:embeddedFontLst>
    <p:embeddedFont>
      <p:font typeface="Arial Rounded MT Bold" panose="020F0704030504030204" pitchFamily="34" charset="0"/>
      <p:regular r:id="rId15"/>
    </p:embeddedFont>
    <p:embeddedFont>
      <p:font typeface="Microsoft PhagsPa" panose="020B0502040204020203" pitchFamily="34" charset="0"/>
      <p:regular r:id="rId16"/>
      <p:bold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B75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fp20analytics.com/datasets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38200" y="-723900"/>
            <a:ext cx="3139772" cy="2770849"/>
          </a:xfrm>
          <a:custGeom>
            <a:avLst/>
            <a:gdLst/>
            <a:ahLst/>
            <a:cxnLst/>
            <a:rect l="l" t="t" r="r" b="b"/>
            <a:pathLst>
              <a:path w="3139772" h="2770849">
                <a:moveTo>
                  <a:pt x="0" y="0"/>
                </a:moveTo>
                <a:lnTo>
                  <a:pt x="3139772" y="0"/>
                </a:lnTo>
                <a:lnTo>
                  <a:pt x="3139772" y="2770849"/>
                </a:lnTo>
                <a:lnTo>
                  <a:pt x="0" y="27708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Rectangle: Single Corner Rounded 3">
            <a:extLst>
              <a:ext uri="{FF2B5EF4-FFF2-40B4-BE49-F238E27FC236}">
                <a16:creationId xmlns:a16="http://schemas.microsoft.com/office/drawing/2014/main" id="{A365BD6A-DB23-9A04-C437-50461ABF236D}"/>
              </a:ext>
            </a:extLst>
          </p:cNvPr>
          <p:cNvSpPr/>
          <p:nvPr/>
        </p:nvSpPr>
        <p:spPr>
          <a:xfrm>
            <a:off x="5067300" y="3543300"/>
            <a:ext cx="8153400" cy="3200400"/>
          </a:xfrm>
          <a:prstGeom prst="round1Rect">
            <a:avLst/>
          </a:prstGeom>
          <a:solidFill>
            <a:srgbClr val="7B75F3"/>
          </a:solidFill>
          <a:ln>
            <a:solidFill>
              <a:srgbClr val="7B75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ln>
                  <a:solidFill>
                    <a:schemeClr val="bg1"/>
                  </a:solidFill>
                </a:ln>
                <a:latin typeface="Arial Rounded MT Bold" panose="020F0704030504030204" pitchFamily="34" charset="0"/>
              </a:rPr>
              <a:t>Mobile Sales Performance Analytics Report</a:t>
            </a:r>
          </a:p>
        </p:txBody>
      </p:sp>
      <p:grpSp>
        <p:nvGrpSpPr>
          <p:cNvPr id="6" name="Group 9">
            <a:extLst>
              <a:ext uri="{FF2B5EF4-FFF2-40B4-BE49-F238E27FC236}">
                <a16:creationId xmlns:a16="http://schemas.microsoft.com/office/drawing/2014/main" id="{D36AE159-E06E-7EDC-8B73-6C6660AF14D0}"/>
              </a:ext>
            </a:extLst>
          </p:cNvPr>
          <p:cNvGrpSpPr/>
          <p:nvPr/>
        </p:nvGrpSpPr>
        <p:grpSpPr>
          <a:xfrm>
            <a:off x="6172200" y="8563465"/>
            <a:ext cx="5638800" cy="1191294"/>
            <a:chOff x="0" y="0"/>
            <a:chExt cx="1098171" cy="247026"/>
          </a:xfrm>
        </p:grpSpPr>
        <p:sp>
          <p:nvSpPr>
            <p:cNvPr id="7" name="Freeform 10">
              <a:extLst>
                <a:ext uri="{FF2B5EF4-FFF2-40B4-BE49-F238E27FC236}">
                  <a16:creationId xmlns:a16="http://schemas.microsoft.com/office/drawing/2014/main" id="{14793BB7-F61E-4EAA-67DA-A43A7C1914EF}"/>
                </a:ext>
              </a:extLst>
            </p:cNvPr>
            <p:cNvSpPr/>
            <p:nvPr/>
          </p:nvSpPr>
          <p:spPr>
            <a:xfrm>
              <a:off x="0" y="0"/>
              <a:ext cx="1098171" cy="247026"/>
            </a:xfrm>
            <a:custGeom>
              <a:avLst/>
              <a:gdLst/>
              <a:ahLst/>
              <a:cxnLst/>
              <a:rect l="l" t="t" r="r" b="b"/>
              <a:pathLst>
                <a:path w="1098171" h="247026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166"/>
            </a:solidFill>
          </p:spPr>
          <p:txBody>
            <a:bodyPr/>
            <a:lstStyle/>
            <a:p>
              <a:pPr algn="ctr"/>
              <a:endParaRPr lang="en-IN" dirty="0"/>
            </a:p>
          </p:txBody>
        </p:sp>
        <p:sp>
          <p:nvSpPr>
            <p:cNvPr id="8" name="TextBox 11">
              <a:extLst>
                <a:ext uri="{FF2B5EF4-FFF2-40B4-BE49-F238E27FC236}">
                  <a16:creationId xmlns:a16="http://schemas.microsoft.com/office/drawing/2014/main" id="{3125C331-9C31-A054-43A8-C753100D6141}"/>
                </a:ext>
              </a:extLst>
            </p:cNvPr>
            <p:cNvSpPr txBox="1"/>
            <p:nvPr/>
          </p:nvSpPr>
          <p:spPr>
            <a:xfrm>
              <a:off x="177800" y="28575"/>
              <a:ext cx="844171" cy="218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7419109-D40A-8BA1-11E7-84B76FEA53FB}"/>
              </a:ext>
            </a:extLst>
          </p:cNvPr>
          <p:cNvSpPr txBox="1"/>
          <p:nvPr/>
        </p:nvSpPr>
        <p:spPr>
          <a:xfrm>
            <a:off x="7331321" y="8553015"/>
            <a:ext cx="38422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rial Rounded MT Bold" panose="020F0704030504030204" pitchFamily="34" charset="0"/>
              </a:rPr>
              <a:t>Presented By – Prabha Burman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75BF9EF-BAA1-8C5E-6A74-7AD7C33F994A}"/>
              </a:ext>
            </a:extLst>
          </p:cNvPr>
          <p:cNvSpPr/>
          <p:nvPr/>
        </p:nvSpPr>
        <p:spPr>
          <a:xfrm>
            <a:off x="7581900" y="6819900"/>
            <a:ext cx="3124200" cy="609600"/>
          </a:xfrm>
          <a:prstGeom prst="roundRect">
            <a:avLst/>
          </a:prstGeom>
          <a:solidFill>
            <a:srgbClr val="7B75F3"/>
          </a:solidFill>
          <a:ln>
            <a:solidFill>
              <a:srgbClr val="7B75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atin typeface="Arial Rounded MT Bold" panose="020F0704030504030204" pitchFamily="34" charset="0"/>
              </a:rPr>
              <a:t>Using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081598-3EA0-ED7A-872E-1A1E27340545}"/>
              </a:ext>
            </a:extLst>
          </p:cNvPr>
          <p:cNvSpPr/>
          <p:nvPr/>
        </p:nvSpPr>
        <p:spPr>
          <a:xfrm>
            <a:off x="6508379" y="190500"/>
            <a:ext cx="5271242" cy="838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880"/>
              </a:lnSpc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PhagsPa" panose="020B0502040204020203" pitchFamily="34" charset="0"/>
                <a:ea typeface="DM Sans Bold"/>
                <a:cs typeface="DM Sans Bold"/>
                <a:sym typeface="DM Sans Bold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7C5F8F-8201-CE65-EFD3-DA7BF4928DEA}"/>
              </a:ext>
            </a:extLst>
          </p:cNvPr>
          <p:cNvSpPr txBox="1"/>
          <p:nvPr/>
        </p:nvSpPr>
        <p:spPr>
          <a:xfrm>
            <a:off x="1371600" y="1562100"/>
            <a:ext cx="15544800" cy="95410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 Rounded MT Bold" panose="020F0704030504030204" pitchFamily="34" charset="0"/>
              </a:rPr>
              <a:t>End-to-end Interactive business intelligence report analyzing mobile brand sales, profitability, geographical performance and forecasting using Power BI.</a:t>
            </a:r>
            <a:endParaRPr lang="en-IN" sz="2800" b="1" dirty="0">
              <a:latin typeface="Arial Rounded MT Bold" panose="020F0704030504030204" pitchFamily="34" charset="0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4AA6850-362C-DA7E-23A8-4C6E01AFDE6F}"/>
              </a:ext>
            </a:extLst>
          </p:cNvPr>
          <p:cNvCxnSpPr/>
          <p:nvPr/>
        </p:nvCxnSpPr>
        <p:spPr>
          <a:xfrm>
            <a:off x="381000" y="2039153"/>
            <a:ext cx="838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DBB949F-C178-741D-7A64-68E925CA0941}"/>
              </a:ext>
            </a:extLst>
          </p:cNvPr>
          <p:cNvSpPr txBox="1"/>
          <p:nvPr/>
        </p:nvSpPr>
        <p:spPr>
          <a:xfrm>
            <a:off x="1371600" y="3041987"/>
            <a:ext cx="13182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Microsoft PhagsPa" panose="020B0502040204020203" pitchFamily="34" charset="0"/>
              </a:rPr>
              <a:t>Data sourced from </a:t>
            </a:r>
            <a:r>
              <a:rPr lang="en-US" sz="2800" dirty="0">
                <a:latin typeface="Microsoft PhagsPa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FP20 Analytics</a:t>
            </a:r>
            <a:r>
              <a:rPr lang="en-US" sz="2800" dirty="0">
                <a:latin typeface="Microsoft PhagsPa" panose="020B0502040204020203" pitchFamily="34" charset="0"/>
              </a:rPr>
              <a:t> Challenge platform (</a:t>
            </a:r>
            <a:r>
              <a:rPr lang="en-US" sz="2800" b="1" u="sng" dirty="0">
                <a:latin typeface="Microsoft PhagsPa" panose="020B0502040204020203" pitchFamily="34" charset="0"/>
              </a:rPr>
              <a:t>Dataset : Challenge 05</a:t>
            </a:r>
            <a:r>
              <a:rPr lang="en-US" sz="2800" dirty="0">
                <a:latin typeface="Microsoft PhagsPa" panose="020B0502040204020203" pitchFamily="34" charset="0"/>
              </a:rPr>
              <a:t>).</a:t>
            </a:r>
            <a:endParaRPr lang="en-IN" sz="2800" dirty="0">
              <a:latin typeface="Microsoft PhagsPa" panose="020B0502040204020203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6BC546-A8F8-9A89-2501-AB3E29B659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832859"/>
            <a:ext cx="8125959" cy="19202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3F5311-349C-D210-8F96-BBAB4CA687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600" y="3813808"/>
            <a:ext cx="8125959" cy="1939290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25631E2-4239-249D-FEE4-36BDD15C436B}"/>
              </a:ext>
            </a:extLst>
          </p:cNvPr>
          <p:cNvCxnSpPr>
            <a:cxnSpLocks/>
          </p:cNvCxnSpPr>
          <p:nvPr/>
        </p:nvCxnSpPr>
        <p:spPr>
          <a:xfrm>
            <a:off x="152400" y="4803304"/>
            <a:ext cx="6477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E4EF9EC-7613-A5F8-80A7-E98E79959F63}"/>
              </a:ext>
            </a:extLst>
          </p:cNvPr>
          <p:cNvSpPr txBox="1"/>
          <p:nvPr/>
        </p:nvSpPr>
        <p:spPr>
          <a:xfrm>
            <a:off x="1371600" y="6460184"/>
            <a:ext cx="1386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u="sng" dirty="0">
                <a:latin typeface="Microsoft PhagsPa" panose="020B0502040204020203" pitchFamily="34" charset="0"/>
              </a:rPr>
              <a:t>Key Data Fields : -</a:t>
            </a:r>
            <a:r>
              <a:rPr lang="en-IN" sz="2800" dirty="0">
                <a:latin typeface="Microsoft PhagsPa" panose="020B0502040204020203" pitchFamily="34" charset="0"/>
              </a:rPr>
              <a:t> Country, Distributor, Brand, Unit Cost, Sales, Date(Month/Year).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6BE1FB-0A37-770D-3D3C-953A1C3A2A02}"/>
              </a:ext>
            </a:extLst>
          </p:cNvPr>
          <p:cNvSpPr txBox="1"/>
          <p:nvPr/>
        </p:nvSpPr>
        <p:spPr>
          <a:xfrm>
            <a:off x="1371600" y="7554423"/>
            <a:ext cx="1554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icrosoft PhagsPa" panose="020B0502040204020203" pitchFamily="34" charset="0"/>
              </a:rPr>
              <a:t>Focused on analyzing sales, profit, inventory cost, top countries and brand and geographical performance.</a:t>
            </a:r>
            <a:endParaRPr lang="en-IN" sz="2800" dirty="0">
              <a:latin typeface="Microsoft PhagsPa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12006" y="-2015883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05279" y="7880378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15A19E-E74D-2FF1-9A52-3A24A0205BD9}"/>
              </a:ext>
            </a:extLst>
          </p:cNvPr>
          <p:cNvSpPr/>
          <p:nvPr/>
        </p:nvSpPr>
        <p:spPr>
          <a:xfrm>
            <a:off x="6508379" y="266700"/>
            <a:ext cx="5271242" cy="838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880"/>
              </a:lnSpc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PhagsPa" panose="020B0502040204020203" pitchFamily="34" charset="0"/>
                <a:ea typeface="DM Sans Bold"/>
                <a:cs typeface="DM Sans Bold"/>
                <a:sym typeface="DM Sans Bold"/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2BB41E-2373-B59A-878B-6C06C47B2706}"/>
              </a:ext>
            </a:extLst>
          </p:cNvPr>
          <p:cNvSpPr txBox="1"/>
          <p:nvPr/>
        </p:nvSpPr>
        <p:spPr>
          <a:xfrm>
            <a:off x="2362200" y="2400300"/>
            <a:ext cx="129540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Microsoft PhagsPa" panose="020B0502040204020203" pitchFamily="34" charset="0"/>
              </a:rPr>
              <a:t>Identify </a:t>
            </a:r>
            <a:r>
              <a:rPr lang="en-US" sz="2800" b="1" dirty="0">
                <a:latin typeface="Microsoft PhagsPa" panose="020B0502040204020203" pitchFamily="34" charset="0"/>
              </a:rPr>
              <a:t>top performing brands</a:t>
            </a:r>
            <a:r>
              <a:rPr lang="en-US" sz="2800" dirty="0">
                <a:latin typeface="Microsoft PhagsPa" panose="020B0502040204020203" pitchFamily="34" charset="0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>
              <a:latin typeface="Microsoft PhagsPa" panose="020B0502040204020203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Microsoft PhagsPa" panose="020B0502040204020203" pitchFamily="34" charset="0"/>
              </a:rPr>
              <a:t>Analyze </a:t>
            </a:r>
            <a:r>
              <a:rPr lang="en-US" sz="2800" b="1" dirty="0">
                <a:latin typeface="Microsoft PhagsPa" panose="020B0502040204020203" pitchFamily="34" charset="0"/>
              </a:rPr>
              <a:t>sales and profit trends over time</a:t>
            </a:r>
            <a:r>
              <a:rPr lang="en-US" sz="2800" dirty="0">
                <a:latin typeface="Microsoft PhagsPa" panose="020B0502040204020203" pitchFamily="34" charset="0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>
              <a:latin typeface="Microsoft PhagsPa" panose="020B0502040204020203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Microsoft PhagsPa" panose="020B0502040204020203" pitchFamily="34" charset="0"/>
              </a:rPr>
              <a:t>Compare </a:t>
            </a:r>
            <a:r>
              <a:rPr lang="en-US" sz="2800" b="1" dirty="0">
                <a:latin typeface="Microsoft PhagsPa" panose="020B0502040204020203" pitchFamily="34" charset="0"/>
              </a:rPr>
              <a:t>country-wise revenue, profit %, units sold contribution</a:t>
            </a:r>
            <a:r>
              <a:rPr lang="en-US" sz="2800" dirty="0">
                <a:latin typeface="Microsoft PhagsPa" panose="020B0502040204020203" pitchFamily="34" charset="0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>
              <a:latin typeface="Microsoft PhagsPa" panose="020B0502040204020203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Microsoft PhagsPa" panose="020B0502040204020203" pitchFamily="34" charset="0"/>
              </a:rPr>
              <a:t>Evaluate </a:t>
            </a:r>
            <a:r>
              <a:rPr lang="en-US" sz="2800" b="1" dirty="0">
                <a:latin typeface="Microsoft PhagsPa" panose="020B0502040204020203" pitchFamily="34" charset="0"/>
              </a:rPr>
              <a:t>inventory allocation efficiency</a:t>
            </a:r>
            <a:r>
              <a:rPr lang="en-US" sz="2800" dirty="0">
                <a:latin typeface="Microsoft PhagsPa" panose="020B0502040204020203" pitchFamily="34" charset="0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>
              <a:latin typeface="Microsoft PhagsPa" panose="020B0502040204020203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Microsoft PhagsPa" panose="020B0502040204020203" pitchFamily="34" charset="0"/>
              </a:rPr>
              <a:t>Track </a:t>
            </a:r>
            <a:r>
              <a:rPr lang="en-US" sz="2800" b="1" dirty="0">
                <a:latin typeface="Microsoft PhagsPa" panose="020B0502040204020203" pitchFamily="34" charset="0"/>
              </a:rPr>
              <a:t>distributor and operator performance</a:t>
            </a:r>
            <a:r>
              <a:rPr lang="en-US" sz="2800" dirty="0">
                <a:latin typeface="Microsoft PhagsPa" panose="020B0502040204020203" pitchFamily="34" charset="0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>
              <a:latin typeface="Microsoft PhagsPa" panose="020B0502040204020203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b="1" dirty="0">
                <a:latin typeface="Microsoft PhagsPa" panose="020B0502040204020203" pitchFamily="34" charset="0"/>
              </a:rPr>
              <a:t>Forecast based on historical data</a:t>
            </a:r>
            <a:r>
              <a:rPr lang="en-US" sz="2800" dirty="0">
                <a:latin typeface="Microsoft PhagsPa" panose="020B0502040204020203" pitchFamily="34" charset="0"/>
              </a:rPr>
              <a:t>.</a:t>
            </a:r>
          </a:p>
          <a:p>
            <a:pPr marL="514350" indent="-514350">
              <a:buFont typeface="Arial" panose="020B0604020202020204" pitchFamily="34" charset="0"/>
              <a:buChar char="•"/>
            </a:pPr>
            <a:endParaRPr lang="en-US" sz="2800" dirty="0">
              <a:latin typeface="Microsoft PhagsPa" panose="020B0502040204020203" pitchFamily="34" charset="0"/>
            </a:endParaRPr>
          </a:p>
          <a:p>
            <a:pPr marL="514350" indent="-514350">
              <a:buFont typeface="Arial" panose="020B0604020202020204" pitchFamily="34" charset="0"/>
              <a:buChar char="•"/>
            </a:pPr>
            <a:r>
              <a:rPr lang="en-US" sz="2800" dirty="0">
                <a:latin typeface="Microsoft PhagsPa" panose="020B0502040204020203" pitchFamily="34" charset="0"/>
              </a:rPr>
              <a:t>Generate </a:t>
            </a:r>
            <a:r>
              <a:rPr lang="en-US" sz="2800" b="1" dirty="0">
                <a:latin typeface="Microsoft PhagsPa" panose="020B0502040204020203" pitchFamily="34" charset="0"/>
              </a:rPr>
              <a:t>actionable business insights</a:t>
            </a:r>
            <a:r>
              <a:rPr lang="en-US" sz="2800" dirty="0">
                <a:latin typeface="Microsoft PhagsPa" panose="020B0502040204020203" pitchFamily="34" charset="0"/>
              </a:rPr>
              <a:t>.</a:t>
            </a:r>
            <a:endParaRPr lang="en-IN" sz="2800" dirty="0">
              <a:latin typeface="Microsoft PhagsPa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6105279" y="7880378"/>
            <a:ext cx="4565737" cy="4114800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257127-6601-C78D-3E0E-E5DD4A94C3D1}"/>
              </a:ext>
            </a:extLst>
          </p:cNvPr>
          <p:cNvSpPr/>
          <p:nvPr/>
        </p:nvSpPr>
        <p:spPr>
          <a:xfrm>
            <a:off x="3086100" y="342900"/>
            <a:ext cx="12115800" cy="838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880"/>
              </a:lnSpc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PhagsPa" panose="020B0502040204020203" pitchFamily="34" charset="0"/>
                <a:ea typeface="DM Sans Bold"/>
                <a:cs typeface="DM Sans Bold"/>
                <a:sym typeface="DM Sans Bold"/>
              </a:rPr>
              <a:t>DATA PREPROCESSING &amp; PREPARATION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FAB586-9BED-209B-A60C-97BC0CD7C327}"/>
              </a:ext>
            </a:extLst>
          </p:cNvPr>
          <p:cNvSpPr txBox="1"/>
          <p:nvPr/>
        </p:nvSpPr>
        <p:spPr>
          <a:xfrm>
            <a:off x="2339340" y="2781300"/>
            <a:ext cx="128778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Microsoft PhagsPa" panose="020B0502040204020203" pitchFamily="34" charset="0"/>
              </a:rPr>
              <a:t>Performed </a:t>
            </a:r>
            <a:r>
              <a:rPr lang="en-IN" sz="2800" b="1" dirty="0">
                <a:latin typeface="Microsoft PhagsPa" panose="020B0502040204020203" pitchFamily="34" charset="0"/>
              </a:rPr>
              <a:t>Exploratory Data Analysis (EDA)</a:t>
            </a:r>
            <a:r>
              <a:rPr lang="en-IN" sz="2800" dirty="0">
                <a:latin typeface="Microsoft PhagsPa" panose="020B0502040204020203" pitchFamily="34" charset="0"/>
              </a:rPr>
              <a:t> to uncover key business patterns and generate meaningful insights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800" dirty="0"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icrosoft PhagsPa" panose="020B0502040204020203" pitchFamily="34" charset="0"/>
              </a:rPr>
              <a:t>Applied </a:t>
            </a:r>
            <a:r>
              <a:rPr lang="en-US" sz="2800" b="1" dirty="0">
                <a:latin typeface="Microsoft PhagsPa" panose="020B0502040204020203" pitchFamily="34" charset="0"/>
              </a:rPr>
              <a:t>data wrangling techniques </a:t>
            </a:r>
            <a:r>
              <a:rPr lang="en-US" sz="2800" dirty="0">
                <a:latin typeface="Microsoft PhagsPa" panose="020B0502040204020203" pitchFamily="34" charset="0"/>
              </a:rPr>
              <a:t>to clean, structure, and standardize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icrosoft PhagsPa" panose="020B0502040204020203" pitchFamily="34" charset="0"/>
              </a:rPr>
              <a:t>Built a </a:t>
            </a:r>
            <a:r>
              <a:rPr lang="en-US" sz="2800" b="1" dirty="0">
                <a:latin typeface="Microsoft PhagsPa" panose="020B0502040204020203" pitchFamily="34" charset="0"/>
              </a:rPr>
              <a:t>data model</a:t>
            </a:r>
            <a:r>
              <a:rPr lang="en-US" sz="2800" dirty="0">
                <a:latin typeface="Microsoft PhagsPa" panose="020B0502040204020203" pitchFamily="34" charset="0"/>
              </a:rPr>
              <a:t> to establish relationships between tables for efficient analysis.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icrosoft PhagsPa" panose="020B0502040204020203" pitchFamily="34" charset="0"/>
              </a:rPr>
              <a:t>Implemented </a:t>
            </a:r>
            <a:r>
              <a:rPr lang="en-US" sz="2800" b="1" dirty="0">
                <a:latin typeface="Microsoft PhagsPa" panose="020B0502040204020203" pitchFamily="34" charset="0"/>
              </a:rPr>
              <a:t>DAX functions, calculated measures, </a:t>
            </a:r>
            <a:r>
              <a:rPr lang="en-US" sz="2800" dirty="0">
                <a:latin typeface="Microsoft PhagsPa" panose="020B0502040204020203" pitchFamily="34" charset="0"/>
              </a:rPr>
              <a:t>and </a:t>
            </a:r>
            <a:r>
              <a:rPr lang="en-US" sz="2800" b="1" dirty="0">
                <a:latin typeface="Microsoft PhagsPa" panose="020B0502040204020203" pitchFamily="34" charset="0"/>
              </a:rPr>
              <a:t>calculated columns </a:t>
            </a:r>
            <a:r>
              <a:rPr lang="en-US" sz="2800" dirty="0">
                <a:latin typeface="Microsoft PhagsPa" panose="020B0502040204020203" pitchFamily="34" charset="0"/>
              </a:rPr>
              <a:t>for </a:t>
            </a:r>
            <a:r>
              <a:rPr lang="en-US" sz="2800" b="1" dirty="0">
                <a:latin typeface="Microsoft PhagsPa" panose="020B0502040204020203" pitchFamily="34" charset="0"/>
              </a:rPr>
              <a:t>KPI calculations </a:t>
            </a:r>
            <a:r>
              <a:rPr lang="en-US" sz="2800" dirty="0">
                <a:latin typeface="Microsoft PhagsPa" panose="020B0502040204020203" pitchFamily="34" charset="0"/>
              </a:rPr>
              <a:t>and </a:t>
            </a:r>
            <a:r>
              <a:rPr lang="en-US" sz="2800" b="1" dirty="0">
                <a:latin typeface="Microsoft PhagsPa" panose="020B0502040204020203" pitchFamily="34" charset="0"/>
              </a:rPr>
              <a:t>advanced metrics</a:t>
            </a:r>
            <a:r>
              <a:rPr lang="en-US" dirty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887254" y="8648700"/>
            <a:ext cx="2801491" cy="2550521"/>
          </a:xfrm>
          <a:custGeom>
            <a:avLst/>
            <a:gdLst/>
            <a:ahLst/>
            <a:cxnLst/>
            <a:rect l="l" t="t" r="r" b="b"/>
            <a:pathLst>
              <a:path w="4175535" h="4114800">
                <a:moveTo>
                  <a:pt x="0" y="0"/>
                </a:moveTo>
                <a:lnTo>
                  <a:pt x="4175536" y="0"/>
                </a:lnTo>
                <a:lnTo>
                  <a:pt x="41755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162F0-05E0-1E52-CFE0-13B7D882BAEC}"/>
              </a:ext>
            </a:extLst>
          </p:cNvPr>
          <p:cNvSpPr txBox="1"/>
          <p:nvPr/>
        </p:nvSpPr>
        <p:spPr>
          <a:xfrm>
            <a:off x="900494" y="1283952"/>
            <a:ext cx="16002000" cy="8556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2800" dirty="0">
                <a:latin typeface="Microsoft PhagsPa" panose="020B0502040204020203" pitchFamily="34" charset="0"/>
              </a:rPr>
              <a:t>From 2018–2021, which country and distributor achieved the best sales performance?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>
              <a:latin typeface="Microsoft PhagsPa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>
                <a:latin typeface="Microsoft PhagsPa" panose="020B0502040204020203" pitchFamily="34" charset="0"/>
              </a:rPr>
              <a:t>What are the seasonal sales trends across countries and distributors?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>
              <a:latin typeface="Microsoft PhagsPa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>
                <a:latin typeface="Microsoft PhagsPa" panose="020B0502040204020203" pitchFamily="34" charset="0"/>
              </a:rPr>
              <a:t>How do inventory costs vary seasonally by country and distributor?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>
              <a:latin typeface="Microsoft PhagsPa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>
                <a:latin typeface="Microsoft PhagsPa" panose="020B0502040204020203" pitchFamily="34" charset="0"/>
              </a:rPr>
              <a:t>What are the seasonal net profit trends for each country and distributor?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>
              <a:latin typeface="Microsoft PhagsPa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>
                <a:latin typeface="Microsoft PhagsPa" panose="020B0502040204020203" pitchFamily="34" charset="0"/>
              </a:rPr>
              <a:t>Each year, which brand was the top seller in each country and distributor?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>
              <a:latin typeface="Microsoft PhagsPa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>
                <a:latin typeface="Microsoft PhagsPa" panose="020B0502040204020203" pitchFamily="34" charset="0"/>
              </a:rPr>
              <a:t>Who were the most successful sales representatives and distributors in each country?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>
              <a:latin typeface="Microsoft PhagsPa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>
                <a:latin typeface="Microsoft PhagsPa" panose="020B0502040204020203" pitchFamily="34" charset="0"/>
              </a:rPr>
              <a:t>Which countries recorded the lowest and highest inventory costs from 2018–2021?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>
              <a:latin typeface="Microsoft PhagsPa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>
                <a:latin typeface="Microsoft PhagsPa" panose="020B0502040204020203" pitchFamily="34" charset="0"/>
              </a:rPr>
              <a:t>Which countries recorded the lowest and highest net profits from 2018–2021?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>
              <a:latin typeface="Microsoft PhagsPa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>
                <a:latin typeface="Microsoft PhagsPa" panose="020B0502040204020203" pitchFamily="34" charset="0"/>
              </a:rPr>
              <a:t>Can sales trends for 2023 be predicted based on historical data?</a:t>
            </a:r>
          </a:p>
          <a:p>
            <a:pPr marL="342900" lvl="0" indent="-342900">
              <a:buFont typeface="+mj-lt"/>
              <a:buAutoNum type="arabicPeriod"/>
            </a:pPr>
            <a:endParaRPr lang="en-IN" sz="2800" dirty="0">
              <a:latin typeface="Microsoft PhagsPa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>
                <a:latin typeface="Microsoft PhagsPa" panose="020B0502040204020203" pitchFamily="34" charset="0"/>
              </a:rPr>
              <a:t>What recommendations can be made to optimize net sales based on top-performing countries?</a:t>
            </a:r>
          </a:p>
          <a:p>
            <a:endParaRPr lang="en-IN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4E534EC-52D7-CBF0-EB64-B5D1EDDCC540}"/>
              </a:ext>
            </a:extLst>
          </p:cNvPr>
          <p:cNvSpPr/>
          <p:nvPr/>
        </p:nvSpPr>
        <p:spPr>
          <a:xfrm>
            <a:off x="4862894" y="190500"/>
            <a:ext cx="8077200" cy="838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880"/>
              </a:lnSpc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PhagsPa" panose="020B0502040204020203" pitchFamily="34" charset="0"/>
                <a:ea typeface="DM Sans Bold"/>
                <a:cs typeface="DM Sans Bold"/>
                <a:sym typeface="DM Sans Bold"/>
              </a:rPr>
              <a:t>KEY AREAS TO EXPLORE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90736" y="1968404"/>
            <a:ext cx="2883122" cy="1142993"/>
            <a:chOff x="88956" y="-1509"/>
            <a:chExt cx="1059857" cy="254751"/>
          </a:xfrm>
        </p:grpSpPr>
        <p:sp>
          <p:nvSpPr>
            <p:cNvPr id="4" name="Freeform 4"/>
            <p:cNvSpPr/>
            <p:nvPr/>
          </p:nvSpPr>
          <p:spPr>
            <a:xfrm>
              <a:off x="88956" y="-1509"/>
              <a:ext cx="1059857" cy="254751"/>
            </a:xfrm>
            <a:custGeom>
              <a:avLst/>
              <a:gdLst/>
              <a:ahLst/>
              <a:cxnLst/>
              <a:rect l="l" t="t" r="r" b="b"/>
              <a:pathLst>
                <a:path w="1098171" h="247026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C2A"/>
            </a:solidFill>
          </p:spPr>
          <p:txBody>
            <a:bodyPr/>
            <a:lstStyle/>
            <a:p>
              <a:pPr algn="ctr"/>
              <a:endParaRPr lang="en-IN" sz="2000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77800" y="28575"/>
              <a:ext cx="844171" cy="218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718904" y="1940515"/>
            <a:ext cx="2987347" cy="1142998"/>
            <a:chOff x="0" y="0"/>
            <a:chExt cx="1098171" cy="24702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98171" cy="247026"/>
            </a:xfrm>
            <a:custGeom>
              <a:avLst/>
              <a:gdLst/>
              <a:ahLst/>
              <a:cxnLst/>
              <a:rect l="l" t="t" r="r" b="b"/>
              <a:pathLst>
                <a:path w="1098171" h="247026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77800" y="28575"/>
              <a:ext cx="844171" cy="218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209291" y="1940515"/>
            <a:ext cx="2987347" cy="1142993"/>
            <a:chOff x="0" y="0"/>
            <a:chExt cx="1098171" cy="2470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98171" cy="247026"/>
            </a:xfrm>
            <a:custGeom>
              <a:avLst/>
              <a:gdLst/>
              <a:ahLst/>
              <a:cxnLst/>
              <a:rect l="l" t="t" r="r" b="b"/>
              <a:pathLst>
                <a:path w="1098171" h="247026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77800" y="28575"/>
              <a:ext cx="844171" cy="218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416681" y="1940524"/>
            <a:ext cx="2987347" cy="1142989"/>
            <a:chOff x="0" y="0"/>
            <a:chExt cx="1098171" cy="24702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98171" cy="247026"/>
            </a:xfrm>
            <a:custGeom>
              <a:avLst/>
              <a:gdLst/>
              <a:ahLst/>
              <a:cxnLst/>
              <a:rect l="l" t="t" r="r" b="b"/>
              <a:pathLst>
                <a:path w="1098171" h="247026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77800" y="28575"/>
              <a:ext cx="844171" cy="218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5" name="AutoShape 15"/>
          <p:cNvSpPr/>
          <p:nvPr/>
        </p:nvSpPr>
        <p:spPr>
          <a:xfrm flipV="1">
            <a:off x="3962400" y="9207083"/>
            <a:ext cx="11013170" cy="0"/>
          </a:xfrm>
          <a:prstGeom prst="line">
            <a:avLst/>
          </a:prstGeom>
          <a:ln w="3810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3936166" y="9149670"/>
            <a:ext cx="132223" cy="13991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302731" y="9118384"/>
            <a:ext cx="132224" cy="13991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 dirty="0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319814" y="9118383"/>
            <a:ext cx="132224" cy="13991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0243C93-63CD-0D19-0809-50195A3EFE3D}"/>
              </a:ext>
            </a:extLst>
          </p:cNvPr>
          <p:cNvSpPr/>
          <p:nvPr/>
        </p:nvSpPr>
        <p:spPr>
          <a:xfrm>
            <a:off x="5660278" y="190499"/>
            <a:ext cx="7072694" cy="838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880"/>
              </a:lnSpc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PhagsPa" panose="020B0502040204020203" pitchFamily="34" charset="0"/>
                <a:ea typeface="DM Sans Bold"/>
                <a:cs typeface="DM Sans Bold"/>
                <a:sym typeface="DM Sans Bold"/>
              </a:rPr>
              <a:t>Dashboard architecture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B000A28-0C43-14FC-5B0B-9537C06BA4B4}"/>
              </a:ext>
            </a:extLst>
          </p:cNvPr>
          <p:cNvSpPr/>
          <p:nvPr/>
        </p:nvSpPr>
        <p:spPr>
          <a:xfrm>
            <a:off x="4862894" y="190500"/>
            <a:ext cx="8077200" cy="838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880"/>
              </a:lnSpc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PhagsPa" panose="020B0502040204020203" pitchFamily="34" charset="0"/>
                <a:ea typeface="DM Sans Bold"/>
                <a:cs typeface="DM Sans Bold"/>
                <a:sym typeface="DM Sans Bold"/>
              </a:rPr>
              <a:t>DATA ARCHITECTURE</a:t>
            </a:r>
          </a:p>
        </p:txBody>
      </p:sp>
      <p:grpSp>
        <p:nvGrpSpPr>
          <p:cNvPr id="30" name="Group 16">
            <a:extLst>
              <a:ext uri="{FF2B5EF4-FFF2-40B4-BE49-F238E27FC236}">
                <a16:creationId xmlns:a16="http://schemas.microsoft.com/office/drawing/2014/main" id="{63344762-BF7A-35A5-8B38-419616EC08F1}"/>
              </a:ext>
            </a:extLst>
          </p:cNvPr>
          <p:cNvGrpSpPr/>
          <p:nvPr/>
        </p:nvGrpSpPr>
        <p:grpSpPr>
          <a:xfrm>
            <a:off x="14905081" y="9135807"/>
            <a:ext cx="132223" cy="139916"/>
            <a:chOff x="0" y="0"/>
            <a:chExt cx="812800" cy="812800"/>
          </a:xfrm>
        </p:grpSpPr>
        <p:sp>
          <p:nvSpPr>
            <p:cNvPr id="31" name="Freeform 17">
              <a:extLst>
                <a:ext uri="{FF2B5EF4-FFF2-40B4-BE49-F238E27FC236}">
                  <a16:creationId xmlns:a16="http://schemas.microsoft.com/office/drawing/2014/main" id="{C796ABD5-9A0B-D534-1094-B9C03CAA6FE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id="32" name="TextBox 18">
              <a:extLst>
                <a:ext uri="{FF2B5EF4-FFF2-40B4-BE49-F238E27FC236}">
                  <a16:creationId xmlns:a16="http://schemas.microsoft.com/office/drawing/2014/main" id="{BCB3AD0E-6C95-402A-DBBD-D7F718460B9C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 dirty="0"/>
            </a:p>
          </p:txBody>
        </p:sp>
      </p:grpSp>
      <p:grpSp>
        <p:nvGrpSpPr>
          <p:cNvPr id="33" name="Group 6">
            <a:extLst>
              <a:ext uri="{FF2B5EF4-FFF2-40B4-BE49-F238E27FC236}">
                <a16:creationId xmlns:a16="http://schemas.microsoft.com/office/drawing/2014/main" id="{EBB7D5DC-B856-1CA0-E438-A013EF1E0D6F}"/>
              </a:ext>
            </a:extLst>
          </p:cNvPr>
          <p:cNvGrpSpPr/>
          <p:nvPr/>
        </p:nvGrpSpPr>
        <p:grpSpPr>
          <a:xfrm>
            <a:off x="10786639" y="1940520"/>
            <a:ext cx="2987347" cy="1142998"/>
            <a:chOff x="0" y="0"/>
            <a:chExt cx="1098171" cy="247026"/>
          </a:xfrm>
        </p:grpSpPr>
        <p:sp>
          <p:nvSpPr>
            <p:cNvPr id="34" name="Freeform 7">
              <a:extLst>
                <a:ext uri="{FF2B5EF4-FFF2-40B4-BE49-F238E27FC236}">
                  <a16:creationId xmlns:a16="http://schemas.microsoft.com/office/drawing/2014/main" id="{9DC24C1E-2402-B36C-CAFA-0C96DD781FF4}"/>
                </a:ext>
              </a:extLst>
            </p:cNvPr>
            <p:cNvSpPr/>
            <p:nvPr/>
          </p:nvSpPr>
          <p:spPr>
            <a:xfrm>
              <a:off x="0" y="0"/>
              <a:ext cx="1098171" cy="247026"/>
            </a:xfrm>
            <a:custGeom>
              <a:avLst/>
              <a:gdLst/>
              <a:ahLst/>
              <a:cxnLst/>
              <a:rect l="l" t="t" r="r" b="b"/>
              <a:pathLst>
                <a:path w="1098171" h="247026">
                  <a:moveTo>
                    <a:pt x="0" y="0"/>
                  </a:moveTo>
                  <a:lnTo>
                    <a:pt x="894971" y="0"/>
                  </a:lnTo>
                  <a:lnTo>
                    <a:pt x="1098171" y="123513"/>
                  </a:lnTo>
                  <a:lnTo>
                    <a:pt x="894971" y="247026"/>
                  </a:lnTo>
                  <a:lnTo>
                    <a:pt x="0" y="247026"/>
                  </a:lnTo>
                  <a:lnTo>
                    <a:pt x="203200" y="12351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id="35" name="TextBox 8">
              <a:extLst>
                <a:ext uri="{FF2B5EF4-FFF2-40B4-BE49-F238E27FC236}">
                  <a16:creationId xmlns:a16="http://schemas.microsoft.com/office/drawing/2014/main" id="{6D495025-75E0-EC11-F799-AC82A6D72ABD}"/>
                </a:ext>
              </a:extLst>
            </p:cNvPr>
            <p:cNvSpPr txBox="1"/>
            <p:nvPr/>
          </p:nvSpPr>
          <p:spPr>
            <a:xfrm>
              <a:off x="177800" y="28575"/>
              <a:ext cx="844171" cy="2184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2F7510E2-0135-DB33-FF52-D03D124B06C9}"/>
              </a:ext>
            </a:extLst>
          </p:cNvPr>
          <p:cNvSpPr txBox="1"/>
          <p:nvPr/>
        </p:nvSpPr>
        <p:spPr>
          <a:xfrm>
            <a:off x="632492" y="2032068"/>
            <a:ext cx="260470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Microsoft PhagsPa" panose="020B0502040204020203" pitchFamily="34" charset="0"/>
              </a:rPr>
              <a:t>Sales &amp; Profit Performance Overview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443B2CD-C040-38C1-793F-62EACE979115}"/>
              </a:ext>
            </a:extLst>
          </p:cNvPr>
          <p:cNvSpPr txBox="1"/>
          <p:nvPr/>
        </p:nvSpPr>
        <p:spPr>
          <a:xfrm>
            <a:off x="4098869" y="1990231"/>
            <a:ext cx="20958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Microsoft PhagsPa" panose="020B0502040204020203" pitchFamily="34" charset="0"/>
              </a:rPr>
              <a:t>Brand Performance Overview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3025B81-F0F3-5A52-E433-FF584125FF1B}"/>
              </a:ext>
            </a:extLst>
          </p:cNvPr>
          <p:cNvSpPr txBox="1"/>
          <p:nvPr/>
        </p:nvSpPr>
        <p:spPr>
          <a:xfrm>
            <a:off x="7849655" y="1980487"/>
            <a:ext cx="15491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Microsoft PhagsPa" panose="020B0502040204020203" pitchFamily="34" charset="0"/>
              </a:rPr>
              <a:t> Detailed Brand Insights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D16F86E-9F9B-4801-7839-35072FF50890}"/>
              </a:ext>
            </a:extLst>
          </p:cNvPr>
          <p:cNvSpPr txBox="1"/>
          <p:nvPr/>
        </p:nvSpPr>
        <p:spPr>
          <a:xfrm>
            <a:off x="11193331" y="2123770"/>
            <a:ext cx="2095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Microsoft PhagsPa" panose="020B0502040204020203" pitchFamily="34" charset="0"/>
              </a:rPr>
              <a:t>Geographical Overview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BE98A2-43E0-DA76-24AD-607FC5D86CEB}"/>
              </a:ext>
            </a:extLst>
          </p:cNvPr>
          <p:cNvSpPr txBox="1"/>
          <p:nvPr/>
        </p:nvSpPr>
        <p:spPr>
          <a:xfrm>
            <a:off x="14796706" y="2123770"/>
            <a:ext cx="2503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Microsoft PhagsPa" panose="020B0502040204020203" pitchFamily="34" charset="0"/>
              </a:rPr>
              <a:t>Forecast &amp; Recommendations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A41FC1A-A14F-7B22-2688-733D639B49BC}"/>
              </a:ext>
            </a:extLst>
          </p:cNvPr>
          <p:cNvSpPr/>
          <p:nvPr/>
        </p:nvSpPr>
        <p:spPr>
          <a:xfrm>
            <a:off x="490736" y="3924300"/>
            <a:ext cx="2741366" cy="3505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This page showing total sales, profit, units sold, and profit margin, along with monthly sales trends and top revenue-generating countries.</a:t>
            </a:r>
            <a:endParaRPr lang="en-IN" sz="2000" b="1" dirty="0">
              <a:solidFill>
                <a:schemeClr val="tx1"/>
              </a:solidFill>
              <a:latin typeface="Microsoft PhagsPa" panose="020B0502040204020203" pitchFamily="34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03338D91-95C4-9B6F-89A5-3EFB2C4B2DCA}"/>
              </a:ext>
            </a:extLst>
          </p:cNvPr>
          <p:cNvSpPr/>
          <p:nvPr/>
        </p:nvSpPr>
        <p:spPr>
          <a:xfrm>
            <a:off x="7422559" y="3879802"/>
            <a:ext cx="2741366" cy="3505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Microsoft PhagsPa" panose="020B0502040204020203" pitchFamily="34" charset="0"/>
              </a:rPr>
              <a:t>Provides deeper insights into brand contribution, growth trends, and operator performance across different periods.</a:t>
            </a:r>
            <a:endParaRPr lang="en-IN" sz="2000" b="1" dirty="0">
              <a:solidFill>
                <a:schemeClr val="tx1"/>
              </a:solidFill>
              <a:latin typeface="Microsoft PhagsPa" panose="020B0502040204020203" pitchFamily="34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6751EDC1-2530-4F77-B7DB-4F6394CFA33D}"/>
              </a:ext>
            </a:extLst>
          </p:cNvPr>
          <p:cNvSpPr/>
          <p:nvPr/>
        </p:nvSpPr>
        <p:spPr>
          <a:xfrm>
            <a:off x="3911508" y="3879802"/>
            <a:ext cx="2741366" cy="3505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Microsoft PhagsPa" panose="020B0502040204020203" pitchFamily="34" charset="0"/>
              </a:rPr>
              <a:t>Analyzes brand-wise sales, inventory cost, and distributor contribution to identify the most profitable brands.</a:t>
            </a:r>
            <a:endParaRPr lang="en-IN" sz="2000" b="1" dirty="0">
              <a:solidFill>
                <a:schemeClr val="tx1"/>
              </a:solidFill>
              <a:latin typeface="Microsoft PhagsPa" panose="020B0502040204020203" pitchFamily="34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A2B55E38-0065-ED08-DA1B-094DEAA01BAA}"/>
              </a:ext>
            </a:extLst>
          </p:cNvPr>
          <p:cNvSpPr/>
          <p:nvPr/>
        </p:nvSpPr>
        <p:spPr>
          <a:xfrm>
            <a:off x="10965370" y="3816233"/>
            <a:ext cx="2741366" cy="3505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Microsoft PhagsPa" panose="020B0502040204020203" pitchFamily="34" charset="0"/>
              </a:rPr>
              <a:t>Examines country-wise revenue, profit distribution, and regional performance to highlight high and low performing markets.</a:t>
            </a:r>
            <a:endParaRPr lang="en-IN" sz="2000" b="1" dirty="0">
              <a:solidFill>
                <a:schemeClr val="tx1"/>
              </a:solidFill>
              <a:latin typeface="Microsoft PhagsPa" panose="020B0502040204020203" pitchFamily="34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CD6AA6EE-5E7C-6282-D6F5-86A4D311A6EF}"/>
              </a:ext>
            </a:extLst>
          </p:cNvPr>
          <p:cNvSpPr/>
          <p:nvPr/>
        </p:nvSpPr>
        <p:spPr>
          <a:xfrm>
            <a:off x="14416681" y="3819509"/>
            <a:ext cx="2741366" cy="3505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chemeClr val="tx1"/>
                </a:solidFill>
                <a:latin typeface="Microsoft PhagsPa" panose="020B0502040204020203" pitchFamily="34" charset="0"/>
              </a:rPr>
              <a:t>Uses historical sales trends to forecast future performance and provide strategic business recommendations.</a:t>
            </a:r>
            <a:endParaRPr lang="en-IN" sz="2000" b="1" dirty="0">
              <a:solidFill>
                <a:schemeClr val="tx1"/>
              </a:solidFill>
              <a:latin typeface="Microsoft PhagsPa" panose="020B0502040204020203" pitchFamily="34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9AC5F5A-7652-AC50-761C-67352F5CF9BE}"/>
              </a:ext>
            </a:extLst>
          </p:cNvPr>
          <p:cNvCxnSpPr>
            <a:cxnSpLocks/>
          </p:cNvCxnSpPr>
          <p:nvPr/>
        </p:nvCxnSpPr>
        <p:spPr>
          <a:xfrm>
            <a:off x="1752600" y="3282833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6ADA687D-91AA-B5CC-9355-F4620A2C60AA}"/>
              </a:ext>
            </a:extLst>
          </p:cNvPr>
          <p:cNvCxnSpPr>
            <a:cxnSpLocks/>
          </p:cNvCxnSpPr>
          <p:nvPr/>
        </p:nvCxnSpPr>
        <p:spPr>
          <a:xfrm>
            <a:off x="5257800" y="3282833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39AB30B-5DC4-2E76-CBD2-4FC9CDC74E10}"/>
              </a:ext>
            </a:extLst>
          </p:cNvPr>
          <p:cNvCxnSpPr>
            <a:cxnSpLocks/>
          </p:cNvCxnSpPr>
          <p:nvPr/>
        </p:nvCxnSpPr>
        <p:spPr>
          <a:xfrm>
            <a:off x="8686800" y="3282833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F7866DF-8CF6-8225-BFE1-C312E21C137B}"/>
              </a:ext>
            </a:extLst>
          </p:cNvPr>
          <p:cNvCxnSpPr>
            <a:cxnSpLocks/>
          </p:cNvCxnSpPr>
          <p:nvPr/>
        </p:nvCxnSpPr>
        <p:spPr>
          <a:xfrm>
            <a:off x="12344400" y="3206633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AFD9449-739A-B2E8-8B2C-8143D2F5BAED}"/>
              </a:ext>
            </a:extLst>
          </p:cNvPr>
          <p:cNvCxnSpPr>
            <a:cxnSpLocks/>
          </p:cNvCxnSpPr>
          <p:nvPr/>
        </p:nvCxnSpPr>
        <p:spPr>
          <a:xfrm>
            <a:off x="15925800" y="3206633"/>
            <a:ext cx="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6">
            <a:extLst>
              <a:ext uri="{FF2B5EF4-FFF2-40B4-BE49-F238E27FC236}">
                <a16:creationId xmlns:a16="http://schemas.microsoft.com/office/drawing/2014/main" id="{FE2B33AD-1DD0-3883-97DB-543FDB614E6D}"/>
              </a:ext>
            </a:extLst>
          </p:cNvPr>
          <p:cNvSpPr/>
          <p:nvPr/>
        </p:nvSpPr>
        <p:spPr>
          <a:xfrm>
            <a:off x="381000" y="190500"/>
            <a:ext cx="4038600" cy="1066800"/>
          </a:xfrm>
          <a:custGeom>
            <a:avLst/>
            <a:gdLst/>
            <a:ahLst/>
            <a:cxnLst/>
            <a:rect l="l" t="t" r="r" b="b"/>
            <a:pathLst>
              <a:path w="3835105" h="963523">
                <a:moveTo>
                  <a:pt x="0" y="0"/>
                </a:moveTo>
                <a:lnTo>
                  <a:pt x="3835105" y="0"/>
                </a:lnTo>
                <a:lnTo>
                  <a:pt x="3835105" y="963523"/>
                </a:lnTo>
                <a:lnTo>
                  <a:pt x="0" y="963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9D54A0-6EC0-0393-5451-C19A23D86245}"/>
              </a:ext>
            </a:extLst>
          </p:cNvPr>
          <p:cNvSpPr txBox="1"/>
          <p:nvPr/>
        </p:nvSpPr>
        <p:spPr>
          <a:xfrm>
            <a:off x="1066800" y="364204"/>
            <a:ext cx="335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Microsoft PhagsPa" panose="020B0502040204020203" pitchFamily="34" charset="0"/>
              </a:rPr>
              <a:t>Sales &amp; Profit Performance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31AF67-0FCA-8821-67FE-3592805ACA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714500"/>
            <a:ext cx="13868400" cy="7854353"/>
          </a:xfrm>
          <a:prstGeom prst="rect">
            <a:avLst/>
          </a:prstGeom>
        </p:spPr>
      </p:pic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3427CCE1-7CEE-B469-3AEB-C817971910E5}"/>
              </a:ext>
            </a:extLst>
          </p:cNvPr>
          <p:cNvSpPr/>
          <p:nvPr/>
        </p:nvSpPr>
        <p:spPr>
          <a:xfrm>
            <a:off x="14630400" y="2552700"/>
            <a:ext cx="3276600" cy="5981700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Apple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and </a:t>
            </a: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LG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lead in overall sales and profit contribution.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Colombia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and </a:t>
            </a: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Ireland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appear as top revenue-generating markets.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1"/>
                </a:solidFill>
                <a:latin typeface="Microsoft PhagsPa" panose="020B0502040204020203" pitchFamily="34" charset="0"/>
              </a:rPr>
              <a:t>Tottus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shows strong distributor-level sales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Sales trend indicates peak demand around </a:t>
            </a: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mid-year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and </a:t>
            </a: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early Q4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.</a:t>
            </a:r>
            <a:endParaRPr lang="en-IN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96E3D-147A-9E8E-6BF3-094AC5A9D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3E02FA-2898-8F9B-19E8-94347B683B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1737360"/>
            <a:ext cx="13807440" cy="7831493"/>
          </a:xfrm>
          <a:prstGeom prst="rect">
            <a:avLst/>
          </a:prstGeom>
        </p:spPr>
      </p:pic>
      <p:sp>
        <p:nvSpPr>
          <p:cNvPr id="5" name="Freeform 10">
            <a:extLst>
              <a:ext uri="{FF2B5EF4-FFF2-40B4-BE49-F238E27FC236}">
                <a16:creationId xmlns:a16="http://schemas.microsoft.com/office/drawing/2014/main" id="{AA90A8AD-693B-2394-36B5-F15251C392D9}"/>
              </a:ext>
            </a:extLst>
          </p:cNvPr>
          <p:cNvSpPr/>
          <p:nvPr/>
        </p:nvSpPr>
        <p:spPr>
          <a:xfrm>
            <a:off x="609600" y="266700"/>
            <a:ext cx="3733800" cy="1066800"/>
          </a:xfrm>
          <a:custGeom>
            <a:avLst/>
            <a:gdLst/>
            <a:ahLst/>
            <a:cxnLst/>
            <a:rect l="l" t="t" r="r" b="b"/>
            <a:pathLst>
              <a:path w="3835105" h="963523">
                <a:moveTo>
                  <a:pt x="0" y="0"/>
                </a:moveTo>
                <a:lnTo>
                  <a:pt x="3835105" y="0"/>
                </a:lnTo>
                <a:lnTo>
                  <a:pt x="3835105" y="963523"/>
                </a:lnTo>
                <a:lnTo>
                  <a:pt x="0" y="96352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148F05-6670-3AAD-5DB7-4BEB95070D42}"/>
              </a:ext>
            </a:extLst>
          </p:cNvPr>
          <p:cNvSpPr txBox="1"/>
          <p:nvPr/>
        </p:nvSpPr>
        <p:spPr>
          <a:xfrm>
            <a:off x="1371600" y="473601"/>
            <a:ext cx="2971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Microsoft PhagsPa" panose="020B0502040204020203" pitchFamily="34" charset="0"/>
              </a:rPr>
              <a:t>Brand Performance Overview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1A0C2769-66E6-6586-AA56-CE0E3674F632}"/>
              </a:ext>
            </a:extLst>
          </p:cNvPr>
          <p:cNvSpPr/>
          <p:nvPr/>
        </p:nvSpPr>
        <p:spPr>
          <a:xfrm>
            <a:off x="14630400" y="2552700"/>
            <a:ext cx="3276600" cy="5981700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Apple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records the highest brand sales among all mobile brands.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LG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appears as the most frequently sold brand across multiple distributors.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1"/>
                </a:solidFill>
                <a:latin typeface="Microsoft PhagsPa" panose="020B0502040204020203" pitchFamily="34" charset="0"/>
              </a:rPr>
              <a:t>Tottus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shows the highest brand purchase cost and units sold.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Ireland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leads in overall inventory cost allocation.</a:t>
            </a:r>
            <a:endParaRPr lang="en-IN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962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364D4-1AA3-359E-2E98-EE2F441CC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4">
            <a:extLst>
              <a:ext uri="{FF2B5EF4-FFF2-40B4-BE49-F238E27FC236}">
                <a16:creationId xmlns:a16="http://schemas.microsoft.com/office/drawing/2014/main" id="{65C674C4-1D80-6856-1F5C-51747E800B78}"/>
              </a:ext>
            </a:extLst>
          </p:cNvPr>
          <p:cNvSpPr/>
          <p:nvPr/>
        </p:nvSpPr>
        <p:spPr>
          <a:xfrm>
            <a:off x="304800" y="266700"/>
            <a:ext cx="3962400" cy="1066800"/>
          </a:xfrm>
          <a:custGeom>
            <a:avLst/>
            <a:gdLst/>
            <a:ahLst/>
            <a:cxnLst/>
            <a:rect l="l" t="t" r="r" b="b"/>
            <a:pathLst>
              <a:path w="3835105" h="963523">
                <a:moveTo>
                  <a:pt x="0" y="0"/>
                </a:moveTo>
                <a:lnTo>
                  <a:pt x="3835104" y="0"/>
                </a:lnTo>
                <a:lnTo>
                  <a:pt x="3835104" y="963523"/>
                </a:lnTo>
                <a:lnTo>
                  <a:pt x="0" y="963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8DD594-1388-1A30-1C5C-23C1868FDD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240" y="1737359"/>
            <a:ext cx="13776960" cy="78314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F811DBE-9176-100D-0035-39B38D126AD5}"/>
              </a:ext>
            </a:extLst>
          </p:cNvPr>
          <p:cNvSpPr txBox="1"/>
          <p:nvPr/>
        </p:nvSpPr>
        <p:spPr>
          <a:xfrm>
            <a:off x="1066800" y="519766"/>
            <a:ext cx="2895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Microsoft PhagsPa" panose="020B0502040204020203" pitchFamily="34" charset="0"/>
              </a:rPr>
              <a:t> Detailed Brand Insights</a:t>
            </a:r>
          </a:p>
        </p:txBody>
      </p:sp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513CB90C-7664-9489-3C4D-BF07D49F0A06}"/>
              </a:ext>
            </a:extLst>
          </p:cNvPr>
          <p:cNvSpPr/>
          <p:nvPr/>
        </p:nvSpPr>
        <p:spPr>
          <a:xfrm>
            <a:off x="14630400" y="2552700"/>
            <a:ext cx="3276600" cy="5981700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LG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and </a:t>
            </a: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Samsung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also show strong contribution across total sales.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Q1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and </a:t>
            </a: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February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emerge as peak sales periods in the yearly and monthly trend.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tx1"/>
                </a:solidFill>
                <a:latin typeface="Microsoft PhagsPa" panose="020B0502040204020203" pitchFamily="34" charset="0"/>
              </a:rPr>
              <a:t>Tuenti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records the highest operator contribution among all operators.</a:t>
            </a:r>
            <a:endParaRPr lang="en-IN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6077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E8C769-5721-C551-5058-266686618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>
            <a:extLst>
              <a:ext uri="{FF2B5EF4-FFF2-40B4-BE49-F238E27FC236}">
                <a16:creationId xmlns:a16="http://schemas.microsoft.com/office/drawing/2014/main" id="{4115E897-D8D7-F313-195F-377D206DFD4A}"/>
              </a:ext>
            </a:extLst>
          </p:cNvPr>
          <p:cNvSpPr/>
          <p:nvPr/>
        </p:nvSpPr>
        <p:spPr>
          <a:xfrm>
            <a:off x="365760" y="236385"/>
            <a:ext cx="3977640" cy="1097115"/>
          </a:xfrm>
          <a:custGeom>
            <a:avLst/>
            <a:gdLst/>
            <a:ahLst/>
            <a:cxnLst/>
            <a:rect l="l" t="t" r="r" b="b"/>
            <a:pathLst>
              <a:path w="3835105" h="963523">
                <a:moveTo>
                  <a:pt x="0" y="0"/>
                </a:moveTo>
                <a:lnTo>
                  <a:pt x="3835105" y="0"/>
                </a:lnTo>
                <a:lnTo>
                  <a:pt x="3835105" y="963523"/>
                </a:lnTo>
                <a:lnTo>
                  <a:pt x="0" y="963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287008-0237-D2C6-E5C8-CD8C078C4122}"/>
              </a:ext>
            </a:extLst>
          </p:cNvPr>
          <p:cNvSpPr txBox="1"/>
          <p:nvPr/>
        </p:nvSpPr>
        <p:spPr>
          <a:xfrm>
            <a:off x="1524000" y="430999"/>
            <a:ext cx="20958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Microsoft PhagsPa" panose="020B0502040204020203" pitchFamily="34" charset="0"/>
              </a:rPr>
              <a:t>Geographical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7001BC-0DF4-6138-29E3-3FE4EE673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" y="1714498"/>
            <a:ext cx="13883640" cy="7854353"/>
          </a:xfrm>
          <a:prstGeom prst="rect">
            <a:avLst/>
          </a:prstGeom>
        </p:spPr>
      </p:pic>
      <p:sp>
        <p:nvSpPr>
          <p:cNvPr id="7" name="Rectangle: Single Corner Snipped 6">
            <a:extLst>
              <a:ext uri="{FF2B5EF4-FFF2-40B4-BE49-F238E27FC236}">
                <a16:creationId xmlns:a16="http://schemas.microsoft.com/office/drawing/2014/main" id="{F60122BF-C8CC-5CFD-C157-EF1D61D19BA1}"/>
              </a:ext>
            </a:extLst>
          </p:cNvPr>
          <p:cNvSpPr/>
          <p:nvPr/>
        </p:nvSpPr>
        <p:spPr>
          <a:xfrm>
            <a:off x="14630400" y="2552700"/>
            <a:ext cx="3276600" cy="5981700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Colombia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records the highest profit among all countries.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Ireland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shows the highest inventory cost allocation.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Venezuela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 has the lowest inventory cost, while Jamaica records the lowest profit.</a:t>
            </a:r>
            <a:endParaRPr lang="en-IN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3726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B37D6-455C-BF89-9925-67223F48D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>
            <a:extLst>
              <a:ext uri="{FF2B5EF4-FFF2-40B4-BE49-F238E27FC236}">
                <a16:creationId xmlns:a16="http://schemas.microsoft.com/office/drawing/2014/main" id="{54A810DA-C678-0654-6CF1-16C2A4F4FBA1}"/>
              </a:ext>
            </a:extLst>
          </p:cNvPr>
          <p:cNvSpPr/>
          <p:nvPr/>
        </p:nvSpPr>
        <p:spPr>
          <a:xfrm>
            <a:off x="381000" y="266700"/>
            <a:ext cx="3951478" cy="1066800"/>
          </a:xfrm>
          <a:custGeom>
            <a:avLst/>
            <a:gdLst/>
            <a:ahLst/>
            <a:cxnLst/>
            <a:rect l="l" t="t" r="r" b="b"/>
            <a:pathLst>
              <a:path w="3835105" h="963523">
                <a:moveTo>
                  <a:pt x="0" y="0"/>
                </a:moveTo>
                <a:lnTo>
                  <a:pt x="3835105" y="0"/>
                </a:lnTo>
                <a:lnTo>
                  <a:pt x="3835105" y="963523"/>
                </a:lnTo>
                <a:lnTo>
                  <a:pt x="0" y="9635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D936B-47E8-2E76-B95A-6D92DBA47579}"/>
              </a:ext>
            </a:extLst>
          </p:cNvPr>
          <p:cNvSpPr txBox="1"/>
          <p:nvPr/>
        </p:nvSpPr>
        <p:spPr>
          <a:xfrm>
            <a:off x="1371600" y="458360"/>
            <a:ext cx="25036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Microsoft PhagsPa" panose="020B0502040204020203" pitchFamily="34" charset="0"/>
              </a:rPr>
              <a:t>Forecast &amp; Recommendations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85EA58-9133-725C-CBDF-D72E9EF4E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20" y="1706878"/>
            <a:ext cx="13822680" cy="7861973"/>
          </a:xfrm>
          <a:prstGeom prst="rect">
            <a:avLst/>
          </a:prstGeom>
        </p:spPr>
      </p:pic>
      <p:sp>
        <p:nvSpPr>
          <p:cNvPr id="8" name="Rectangle: Single Corner Snipped 7">
            <a:extLst>
              <a:ext uri="{FF2B5EF4-FFF2-40B4-BE49-F238E27FC236}">
                <a16:creationId xmlns:a16="http://schemas.microsoft.com/office/drawing/2014/main" id="{85436D0A-6205-7197-2E20-317864FF3ACD}"/>
              </a:ext>
            </a:extLst>
          </p:cNvPr>
          <p:cNvSpPr/>
          <p:nvPr/>
        </p:nvSpPr>
        <p:spPr>
          <a:xfrm>
            <a:off x="14645640" y="2399364"/>
            <a:ext cx="3276600" cy="6477000"/>
          </a:xfrm>
          <a:prstGeom prst="snip1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Sales trend analysis indicates </a:t>
            </a: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continued growth potential 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in 2023 based on historical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Forecast model highlights stable demand with </a:t>
            </a: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possible seasonal fluctuations 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in upcoming periods.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/>
                </a:solidFill>
                <a:latin typeface="Microsoft PhagsPa" panose="020B0502040204020203" pitchFamily="34" charset="0"/>
              </a:rPr>
              <a:t>Business recommendations </a:t>
            </a:r>
            <a:r>
              <a:rPr lang="en-US" sz="2000" dirty="0">
                <a:solidFill>
                  <a:schemeClr val="tx1"/>
                </a:solidFill>
                <a:latin typeface="Microsoft PhagsPa" panose="020B0502040204020203" pitchFamily="34" charset="0"/>
              </a:rPr>
              <a:t>have already been provided in the dashboard to support strategic decision-making.</a:t>
            </a:r>
            <a:endParaRPr lang="en-IN" sz="2000" dirty="0">
              <a:solidFill>
                <a:schemeClr val="tx1"/>
              </a:solidFill>
              <a:latin typeface="Microsoft PhagsP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6240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838200" y="1409700"/>
            <a:ext cx="4495800" cy="5410200"/>
          </a:xfrm>
          <a:custGeom>
            <a:avLst/>
            <a:gdLst/>
            <a:ahLst/>
            <a:cxnLst/>
            <a:rect l="l" t="t" r="r" b="b"/>
            <a:pathLst>
              <a:path w="4149409" h="7291294">
                <a:moveTo>
                  <a:pt x="0" y="7291294"/>
                </a:moveTo>
                <a:lnTo>
                  <a:pt x="4149409" y="7291294"/>
                </a:lnTo>
                <a:lnTo>
                  <a:pt x="4149409" y="0"/>
                </a:lnTo>
                <a:lnTo>
                  <a:pt x="0" y="0"/>
                </a:lnTo>
                <a:lnTo>
                  <a:pt x="0" y="72912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V="1">
            <a:off x="6553200" y="1409700"/>
            <a:ext cx="4495800" cy="5417820"/>
          </a:xfrm>
          <a:custGeom>
            <a:avLst/>
            <a:gdLst/>
            <a:ahLst/>
            <a:cxnLst/>
            <a:rect l="l" t="t" r="r" b="b"/>
            <a:pathLst>
              <a:path w="2934320" h="5156154">
                <a:moveTo>
                  <a:pt x="0" y="5156154"/>
                </a:moveTo>
                <a:lnTo>
                  <a:pt x="2934320" y="5156154"/>
                </a:lnTo>
                <a:lnTo>
                  <a:pt x="2934320" y="0"/>
                </a:lnTo>
                <a:lnTo>
                  <a:pt x="0" y="0"/>
                </a:lnTo>
                <a:lnTo>
                  <a:pt x="0" y="515615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609600" y="-217001"/>
            <a:ext cx="1725314" cy="1790700"/>
          </a:xfrm>
          <a:custGeom>
            <a:avLst/>
            <a:gdLst/>
            <a:ahLst/>
            <a:cxnLst/>
            <a:rect l="l" t="t" r="r" b="b"/>
            <a:pathLst>
              <a:path w="2040628" h="2393060">
                <a:moveTo>
                  <a:pt x="2040628" y="0"/>
                </a:moveTo>
                <a:lnTo>
                  <a:pt x="0" y="0"/>
                </a:lnTo>
                <a:lnTo>
                  <a:pt x="0" y="2393060"/>
                </a:lnTo>
                <a:lnTo>
                  <a:pt x="2040628" y="2393060"/>
                </a:lnTo>
                <a:lnTo>
                  <a:pt x="204062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05A2B5-1751-2908-888B-BDD7D520D4BE}"/>
              </a:ext>
            </a:extLst>
          </p:cNvPr>
          <p:cNvSpPr/>
          <p:nvPr/>
        </p:nvSpPr>
        <p:spPr>
          <a:xfrm>
            <a:off x="7026089" y="259249"/>
            <a:ext cx="4235821" cy="838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5880"/>
              </a:lnSpc>
            </a:pPr>
            <a:r>
              <a:rPr lang="en-US" sz="4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PhagsPa" panose="020B0502040204020203" pitchFamily="34" charset="0"/>
                <a:ea typeface="DM Sans Bold"/>
                <a:cs typeface="DM Sans Bold"/>
                <a:sym typeface="DM Sans Bold"/>
              </a:rPr>
              <a:t>INSIGHTS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5CEAEA-8461-D647-C819-9AD086DCBFD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0601" y="1566079"/>
            <a:ext cx="4114800" cy="32726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4861DA-525A-2EEB-BA2A-C60CFA6842B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1800" y="1573699"/>
            <a:ext cx="4038600" cy="3265001"/>
          </a:xfrm>
          <a:prstGeom prst="rect">
            <a:avLst/>
          </a:prstGeom>
        </p:spPr>
      </p:pic>
      <p:sp>
        <p:nvSpPr>
          <p:cNvPr id="13" name="Freeform 2">
            <a:extLst>
              <a:ext uri="{FF2B5EF4-FFF2-40B4-BE49-F238E27FC236}">
                <a16:creationId xmlns:a16="http://schemas.microsoft.com/office/drawing/2014/main" id="{96690C71-D1F5-5522-CBAF-E44639E56913}"/>
              </a:ext>
            </a:extLst>
          </p:cNvPr>
          <p:cNvSpPr/>
          <p:nvPr/>
        </p:nvSpPr>
        <p:spPr>
          <a:xfrm flipV="1">
            <a:off x="12283440" y="1409700"/>
            <a:ext cx="4495800" cy="5410200"/>
          </a:xfrm>
          <a:custGeom>
            <a:avLst/>
            <a:gdLst/>
            <a:ahLst/>
            <a:cxnLst/>
            <a:rect l="l" t="t" r="r" b="b"/>
            <a:pathLst>
              <a:path w="4149409" h="7291294">
                <a:moveTo>
                  <a:pt x="0" y="7291294"/>
                </a:moveTo>
                <a:lnTo>
                  <a:pt x="4149409" y="7291294"/>
                </a:lnTo>
                <a:lnTo>
                  <a:pt x="4149409" y="0"/>
                </a:lnTo>
                <a:lnTo>
                  <a:pt x="0" y="0"/>
                </a:lnTo>
                <a:lnTo>
                  <a:pt x="0" y="729129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8675BC-2B97-39C7-EFFD-D7FD1F7A92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013" y="6759067"/>
            <a:ext cx="5805568" cy="18457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4B26B17-FA4E-E478-CDDA-36D703B571B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96800" y="1573699"/>
            <a:ext cx="4038600" cy="32650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4ABB7F6-9BA7-CFED-3B76-846A3A0093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1600" y="6793293"/>
            <a:ext cx="6172200" cy="17772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 flipV="1">
            <a:off x="5421684" y="2814380"/>
            <a:ext cx="7444632" cy="0"/>
          </a:xfrm>
          <a:prstGeom prst="line">
            <a:avLst/>
          </a:prstGeom>
          <a:ln w="3810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4" name="Group 4"/>
          <p:cNvGrpSpPr/>
          <p:nvPr/>
        </p:nvGrpSpPr>
        <p:grpSpPr>
          <a:xfrm>
            <a:off x="5281767" y="2674463"/>
            <a:ext cx="279835" cy="27983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002124" y="2674463"/>
            <a:ext cx="279835" cy="279835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726399" y="2674463"/>
            <a:ext cx="279835" cy="27983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5163800" y="7429500"/>
            <a:ext cx="3451195" cy="3381579"/>
          </a:xfrm>
          <a:custGeom>
            <a:avLst/>
            <a:gdLst/>
            <a:ahLst/>
            <a:cxnLst/>
            <a:rect l="l" t="t" r="r" b="b"/>
            <a:pathLst>
              <a:path w="4565737" h="4114800">
                <a:moveTo>
                  <a:pt x="0" y="0"/>
                </a:moveTo>
                <a:lnTo>
                  <a:pt x="4565737" y="0"/>
                </a:lnTo>
                <a:lnTo>
                  <a:pt x="456573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9B53AE8B-DAFF-572A-61E9-B59FE5640D3B}"/>
              </a:ext>
            </a:extLst>
          </p:cNvPr>
          <p:cNvSpPr/>
          <p:nvPr/>
        </p:nvSpPr>
        <p:spPr>
          <a:xfrm>
            <a:off x="-1066800" y="-342900"/>
            <a:ext cx="3796558" cy="3017362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4" y="0"/>
                </a:lnTo>
                <a:lnTo>
                  <a:pt x="41832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6" name="Rectangle: Single Corner Rounded 15">
            <a:extLst>
              <a:ext uri="{FF2B5EF4-FFF2-40B4-BE49-F238E27FC236}">
                <a16:creationId xmlns:a16="http://schemas.microsoft.com/office/drawing/2014/main" id="{21BDC228-2CF1-ED49-B94B-7C6077A0A780}"/>
              </a:ext>
            </a:extLst>
          </p:cNvPr>
          <p:cNvSpPr/>
          <p:nvPr/>
        </p:nvSpPr>
        <p:spPr>
          <a:xfrm>
            <a:off x="5067300" y="3899335"/>
            <a:ext cx="8153400" cy="1244165"/>
          </a:xfrm>
          <a:prstGeom prst="round1Rect">
            <a:avLst/>
          </a:prstGeom>
          <a:solidFill>
            <a:srgbClr val="7B75F3"/>
          </a:solidFill>
          <a:ln>
            <a:solidFill>
              <a:srgbClr val="7B75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ln>
                  <a:solidFill>
                    <a:schemeClr val="bg1"/>
                  </a:solidFill>
                </a:ln>
                <a:latin typeface="Arial Rounded MT Bold" panose="020F0704030504030204" pitchFamily="34" charset="0"/>
              </a:rPr>
              <a:t>CONCLUSION</a:t>
            </a: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7BF28BD4-AE6E-ED93-88FD-A21275C4B4CA}"/>
              </a:ext>
            </a:extLst>
          </p:cNvPr>
          <p:cNvSpPr/>
          <p:nvPr/>
        </p:nvSpPr>
        <p:spPr>
          <a:xfrm flipV="1">
            <a:off x="5561602" y="6210300"/>
            <a:ext cx="7444632" cy="0"/>
          </a:xfrm>
          <a:prstGeom prst="line">
            <a:avLst/>
          </a:prstGeom>
          <a:ln w="3810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dirty="0"/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C1989151-8ACD-6C95-C6D7-00EEBCC6911C}"/>
              </a:ext>
            </a:extLst>
          </p:cNvPr>
          <p:cNvGrpSpPr/>
          <p:nvPr/>
        </p:nvGrpSpPr>
        <p:grpSpPr>
          <a:xfrm>
            <a:off x="5308002" y="6090520"/>
            <a:ext cx="279835" cy="279835"/>
            <a:chOff x="0" y="0"/>
            <a:chExt cx="812800" cy="812800"/>
          </a:xfrm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4C93AD83-2B11-C48A-A4C1-F8966C9B6F2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47C2A"/>
            </a:solidFill>
          </p:spPr>
        </p:sp>
        <p:sp>
          <p:nvSpPr>
            <p:cNvPr id="20" name="TextBox 6">
              <a:extLst>
                <a:ext uri="{FF2B5EF4-FFF2-40B4-BE49-F238E27FC236}">
                  <a16:creationId xmlns:a16="http://schemas.microsoft.com/office/drawing/2014/main" id="{2D776C2C-4C5E-EF40-AB6B-E667EAD72B11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1" name="Group 7">
            <a:extLst>
              <a:ext uri="{FF2B5EF4-FFF2-40B4-BE49-F238E27FC236}">
                <a16:creationId xmlns:a16="http://schemas.microsoft.com/office/drawing/2014/main" id="{72059A69-7A4D-3FF1-46B3-89A7FDB26806}"/>
              </a:ext>
            </a:extLst>
          </p:cNvPr>
          <p:cNvGrpSpPr/>
          <p:nvPr/>
        </p:nvGrpSpPr>
        <p:grpSpPr>
          <a:xfrm>
            <a:off x="9002124" y="6088258"/>
            <a:ext cx="279835" cy="279835"/>
            <a:chOff x="0" y="0"/>
            <a:chExt cx="812800" cy="812800"/>
          </a:xfrm>
        </p:grpSpPr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0C31A9F5-362F-8459-E153-E36F26D7884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950C5"/>
            </a:solidFill>
          </p:spPr>
        </p:sp>
        <p:sp>
          <p:nvSpPr>
            <p:cNvPr id="23" name="TextBox 9">
              <a:extLst>
                <a:ext uri="{FF2B5EF4-FFF2-40B4-BE49-F238E27FC236}">
                  <a16:creationId xmlns:a16="http://schemas.microsoft.com/office/drawing/2014/main" id="{6F8CC0EC-A5D2-1789-15D1-B2055B020FD3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grpSp>
        <p:nvGrpSpPr>
          <p:cNvPr id="24" name="Group 10">
            <a:extLst>
              <a:ext uri="{FF2B5EF4-FFF2-40B4-BE49-F238E27FC236}">
                <a16:creationId xmlns:a16="http://schemas.microsoft.com/office/drawing/2014/main" id="{6A6AFAE5-6F3D-56BB-6076-4A916A554C09}"/>
              </a:ext>
            </a:extLst>
          </p:cNvPr>
          <p:cNvGrpSpPr/>
          <p:nvPr/>
        </p:nvGrpSpPr>
        <p:grpSpPr>
          <a:xfrm>
            <a:off x="12726398" y="6095438"/>
            <a:ext cx="279835" cy="279835"/>
            <a:chOff x="0" y="0"/>
            <a:chExt cx="812800" cy="812800"/>
          </a:xfrm>
        </p:grpSpPr>
        <p:sp>
          <p:nvSpPr>
            <p:cNvPr id="25" name="Freeform 11">
              <a:extLst>
                <a:ext uri="{FF2B5EF4-FFF2-40B4-BE49-F238E27FC236}">
                  <a16:creationId xmlns:a16="http://schemas.microsoft.com/office/drawing/2014/main" id="{A74E9B01-F40C-994D-3C79-B6905C45A3F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D166"/>
            </a:solidFill>
          </p:spPr>
        </p:sp>
        <p:sp>
          <p:nvSpPr>
            <p:cNvPr id="26" name="TextBox 12">
              <a:extLst>
                <a:ext uri="{FF2B5EF4-FFF2-40B4-BE49-F238E27FC236}">
                  <a16:creationId xmlns:a16="http://schemas.microsoft.com/office/drawing/2014/main" id="{54A16DEB-209C-2460-C5A6-8DBA98543846}"/>
                </a:ext>
              </a:extLst>
            </p:cNvPr>
            <p:cNvSpPr txBox="1"/>
            <p:nvPr/>
          </p:nvSpPr>
          <p:spPr>
            <a:xfrm>
              <a:off x="76200" y="104775"/>
              <a:ext cx="660400" cy="631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647</Words>
  <Application>Microsoft Office PowerPoint</Application>
  <PresentationFormat>Custom</PresentationFormat>
  <Paragraphs>98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 Rounded MT Bold</vt:lpstr>
      <vt:lpstr>Microsoft PhagsPa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Advertising and Sales Growth Roadmap Presentation</dc:title>
  <dc:creator>GUNGUN</dc:creator>
  <cp:lastModifiedBy>Prabha Burman</cp:lastModifiedBy>
  <cp:revision>50</cp:revision>
  <dcterms:created xsi:type="dcterms:W3CDTF">2006-08-16T00:00:00Z</dcterms:created>
  <dcterms:modified xsi:type="dcterms:W3CDTF">2026-03-07T17:22:52Z</dcterms:modified>
  <dc:identifier>DAHDRT7Qqh0</dc:identifier>
</cp:coreProperties>
</file>